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1"/>
  </p:notesMasterIdLst>
  <p:handoutMasterIdLst>
    <p:handoutMasterId r:id="rId22"/>
  </p:handoutMasterIdLst>
  <p:sldIdLst>
    <p:sldId id="256" r:id="rId2"/>
    <p:sldId id="304" r:id="rId3"/>
    <p:sldId id="308" r:id="rId4"/>
    <p:sldId id="309" r:id="rId5"/>
    <p:sldId id="296" r:id="rId6"/>
    <p:sldId id="303" r:id="rId7"/>
    <p:sldId id="302" r:id="rId8"/>
    <p:sldId id="306" r:id="rId9"/>
    <p:sldId id="301" r:id="rId10"/>
    <p:sldId id="305" r:id="rId11"/>
    <p:sldId id="298" r:id="rId12"/>
    <p:sldId id="300" r:id="rId13"/>
    <p:sldId id="310" r:id="rId14"/>
    <p:sldId id="311" r:id="rId15"/>
    <p:sldId id="312" r:id="rId16"/>
    <p:sldId id="313" r:id="rId17"/>
    <p:sldId id="314" r:id="rId18"/>
    <p:sldId id="315" r:id="rId19"/>
    <p:sldId id="316" r:id="rId20"/>
  </p:sldIdLst>
  <p:sldSz cx="9144000" cy="5143500" type="screen16x9"/>
  <p:notesSz cx="6858000" cy="9144000"/>
  <p:embeddedFontLst>
    <p:embeddedFont>
      <p:font typeface="Libre Franklin" panose="020B0604020202020204" charset="0"/>
      <p:regular r:id="rId23"/>
      <p:bold r:id="rId24"/>
      <p:italic r:id="rId25"/>
      <p:boldItalic r:id="rId26"/>
    </p:embeddedFont>
    <p:embeddedFont>
      <p:font typeface="Didact Gothic" panose="020B0604020202020204" charset="0"/>
      <p:regular r:id="rId27"/>
    </p:embeddedFont>
    <p:embeddedFont>
      <p:font typeface="Poppins" panose="020B0604020202020204" charset="0"/>
      <p:regular r:id="rId28"/>
      <p:bold r:id="rId29"/>
      <p:italic r:id="rId30"/>
      <p:boldItalic r:id="rId31"/>
    </p:embeddedFont>
    <p:embeddedFont>
      <p:font typeface="Raleway"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Венцеслав Драганов" initials="ВД" lastIdx="1" clrIdx="0">
    <p:extLst>
      <p:ext uri="{19B8F6BF-5375-455C-9EA6-DF929625EA0E}">
        <p15:presenceInfo xmlns:p15="http://schemas.microsoft.com/office/powerpoint/2012/main" userId="e10cb69a95f97f7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820B53-50E4-4096-89A7-4F5D47BBC864}">
  <a:tblStyle styleId="{11820B53-50E4-4096-89A7-4F5D47BBC86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46" autoAdjust="0"/>
  </p:normalViewPr>
  <p:slideViewPr>
    <p:cSldViewPr snapToGrid="0">
      <p:cViewPr varScale="1">
        <p:scale>
          <a:sx n="83" d="100"/>
          <a:sy n="83" d="100"/>
        </p:scale>
        <p:origin x="115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notesMaster" Target="notesMasters/notesMaster1.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CBD6BD-D6C6-44D3-BA34-30C9F89A471C}" type="datetimeFigureOut">
              <a:rPr lang="bg-BG" smtClean="0"/>
              <a:t>1.6.2026 г.</a:t>
            </a:fld>
            <a:endParaRPr lang="bg-B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1AC4C6-D45B-4376-9E7F-BABBC2EDB634}" type="slidenum">
              <a:rPr lang="bg-BG" smtClean="0"/>
              <a:t>‹#›</a:t>
            </a:fld>
            <a:endParaRPr lang="bg-BG"/>
          </a:p>
        </p:txBody>
      </p:sp>
    </p:spTree>
    <p:extLst>
      <p:ext uri="{BB962C8B-B14F-4D97-AF65-F5344CB8AC3E}">
        <p14:creationId xmlns:p14="http://schemas.microsoft.com/office/powerpoint/2010/main" val="37121165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Tree>
    <p:extLst>
      <p:ext uri="{BB962C8B-B14F-4D97-AF65-F5344CB8AC3E}">
        <p14:creationId xmlns:p14="http://schemas.microsoft.com/office/powerpoint/2010/main" val="2031230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Tree>
    <p:extLst>
      <p:ext uri="{BB962C8B-B14F-4D97-AF65-F5344CB8AC3E}">
        <p14:creationId xmlns:p14="http://schemas.microsoft.com/office/powerpoint/2010/main" val="2735158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1" name="Google Shape;21;p4"/>
          <p:cNvGrpSpPr/>
          <p:nvPr/>
        </p:nvGrpSpPr>
        <p:grpSpPr>
          <a:xfrm>
            <a:off x="0" y="0"/>
            <a:ext cx="9144000" cy="312600"/>
            <a:chOff x="0" y="0"/>
            <a:chExt cx="9144000" cy="312600"/>
          </a:xfrm>
        </p:grpSpPr>
        <p:sp>
          <p:nvSpPr>
            <p:cNvPr id="22" name="Google Shape;22;p4"/>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 name="Google Shape;23;p4"/>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61" r:id="rId11"/>
    <p:sldLayoutId id="2147483662"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bg-BG" sz="4800" b="0" dirty="0" smtClean="0">
                <a:latin typeface="Times New Roman" panose="02020603050405020304" pitchFamily="18" charset="0"/>
                <a:cs typeface="Times New Roman" panose="02020603050405020304" pitchFamily="18" charset="0"/>
              </a:rPr>
              <a:t>Система за продажба на билети за събития</a:t>
            </a:r>
            <a:endParaRPr sz="4800" b="0" dirty="0">
              <a:latin typeface="Times New Roman" panose="02020603050405020304" pitchFamily="18" charset="0"/>
              <a:cs typeface="Times New Roman" panose="02020603050405020304" pitchFamily="18" charset="0"/>
            </a:endParaRPr>
          </a:p>
        </p:txBody>
      </p:sp>
      <p:sp>
        <p:nvSpPr>
          <p:cNvPr id="109" name="Google Shape;109;p20"/>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bg-BG" dirty="0" smtClean="0">
                <a:latin typeface="Times New Roman" panose="02020603050405020304" pitchFamily="18" charset="0"/>
                <a:cs typeface="Times New Roman" panose="02020603050405020304" pitchFamily="18" charset="0"/>
              </a:rPr>
              <a:t>Дипломант: Йордан Драганов</a:t>
            </a:r>
          </a:p>
          <a:p>
            <a:pPr marL="0" lvl="0" indent="0" algn="l" rtl="0">
              <a:spcBef>
                <a:spcPts val="0"/>
              </a:spcBef>
              <a:spcAft>
                <a:spcPts val="0"/>
              </a:spcAft>
              <a:buNone/>
            </a:pPr>
            <a:r>
              <a:rPr lang="bg-BG" dirty="0" smtClean="0">
                <a:latin typeface="Times New Roman" panose="02020603050405020304" pitchFamily="18" charset="0"/>
                <a:cs typeface="Times New Roman" panose="02020603050405020304" pitchFamily="18" charset="0"/>
              </a:rPr>
              <a:t>Дипломен ръководител: Илия Докторов</a:t>
            </a:r>
            <a:endParaRPr dirty="0">
              <a:latin typeface="Times New Roman" panose="02020603050405020304" pitchFamily="18" charset="0"/>
              <a:cs typeface="Times New Roman" panose="02020603050405020304" pitchFamily="18" charset="0"/>
            </a:endParaRPr>
          </a:p>
        </p:txBody>
      </p:sp>
      <p:cxnSp>
        <p:nvCxnSpPr>
          <p:cNvPr id="110" name="Google Shape;110;p20"/>
          <p:cNvCxnSpPr/>
          <p:nvPr/>
        </p:nvCxnSpPr>
        <p:spPr>
          <a:xfrm>
            <a:off x="1431100" y="3636300"/>
            <a:ext cx="5835000" cy="0"/>
          </a:xfrm>
          <a:prstGeom prst="straightConnector1">
            <a:avLst/>
          </a:prstGeom>
          <a:noFill/>
          <a:ln w="9525" cap="flat" cmpd="sng">
            <a:solidFill>
              <a:schemeClr val="dk1"/>
            </a:solidFill>
            <a:prstDash val="solid"/>
            <a:round/>
            <a:headEnd type="none" w="med" len="med"/>
            <a:tailEnd type="none" w="med" len="med"/>
          </a:ln>
        </p:spPr>
      </p:cxnSp>
      <p:sp>
        <p:nvSpPr>
          <p:cNvPr id="5" name="Google Shape;265;p27"/>
          <p:cNvSpPr txBox="1">
            <a:spLocks/>
          </p:cNvSpPr>
          <p:nvPr/>
        </p:nvSpPr>
        <p:spPr>
          <a:xfrm>
            <a:off x="5277712" y="3864230"/>
            <a:ext cx="3809138" cy="4480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1919"/>
              </a:buClr>
              <a:buSzPts val="5200"/>
              <a:buFont typeface="Poppins"/>
              <a:buNone/>
              <a:defRPr sz="54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2pPr>
            <a:lvl3pPr marR="0" lvl="2"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3pPr>
            <a:lvl4pPr marR="0" lvl="3"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4pPr>
            <a:lvl5pPr marR="0" lvl="4"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5pPr>
            <a:lvl6pPr marR="0" lvl="5"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6pPr>
            <a:lvl7pPr marR="0" lvl="6"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7pPr>
            <a:lvl8pPr marR="0" lvl="7"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8pPr>
            <a:lvl9pPr marR="0" lvl="8" algn="ctr" rtl="0">
              <a:lnSpc>
                <a:spcPct val="100000"/>
              </a:lnSpc>
              <a:spcBef>
                <a:spcPts val="0"/>
              </a:spcBef>
              <a:spcAft>
                <a:spcPts val="0"/>
              </a:spcAft>
              <a:buClr>
                <a:srgbClr val="191919"/>
              </a:buClr>
              <a:buSzPts val="5200"/>
              <a:buFont typeface="Poppins"/>
              <a:buNone/>
              <a:defRPr sz="5200" b="1" i="0" u="none" strike="noStrike" cap="none">
                <a:solidFill>
                  <a:srgbClr val="191919"/>
                </a:solidFill>
                <a:latin typeface="Poppins"/>
                <a:ea typeface="Poppins"/>
                <a:cs typeface="Poppins"/>
                <a:sym typeface="Poppins"/>
              </a:defRPr>
            </a:lvl9pPr>
          </a:lstStyle>
          <a:p>
            <a:pPr algn="ctr"/>
            <a:r>
              <a:rPr lang="bg-BG" sz="1600" b="0" dirty="0" smtClean="0">
                <a:latin typeface="Times New Roman" panose="02020603050405020304" pitchFamily="18" charset="0"/>
                <a:cs typeface="Times New Roman" panose="02020603050405020304" pitchFamily="18" charset="0"/>
              </a:rPr>
              <a:t>ТУЕС към ТУ – София</a:t>
            </a:r>
            <a:endParaRPr lang="bg-BG" sz="1600" b="0" dirty="0">
              <a:latin typeface="Times New Roman" panose="02020603050405020304" pitchFamily="18" charset="0"/>
              <a:cs typeface="Times New Roman" panose="02020603050405020304" pitchFamily="18" charset="0"/>
            </a:endParaRPr>
          </a:p>
          <a:p>
            <a:pPr algn="ctr"/>
            <a:r>
              <a:rPr lang="bg-BG" sz="1600" b="0" dirty="0" smtClean="0">
                <a:latin typeface="Times New Roman" panose="02020603050405020304" pitchFamily="18" charset="0"/>
                <a:cs typeface="Times New Roman" panose="02020603050405020304" pitchFamily="18" charset="0"/>
              </a:rPr>
              <a:t>02.06 2026г.</a:t>
            </a:r>
            <a:endParaRPr lang="en-US" sz="16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Проблемът</a:t>
            </a:r>
            <a:endParaRPr lang="bg-BG" sz="3200" b="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77150" y="1187174"/>
            <a:ext cx="6895238" cy="3270525"/>
          </a:xfrm>
        </p:spPr>
        <p:txBody>
          <a:bodyPr anchor="ctr"/>
          <a:lstStyle/>
          <a:p>
            <a:pPr marL="152400" indent="0">
              <a:buNone/>
            </a:pPr>
            <a:r>
              <a:rPr lang="ru-RU" sz="2000" dirty="0">
                <a:latin typeface="Times New Roman" panose="02020603050405020304" pitchFamily="18" charset="0"/>
                <a:cs typeface="Times New Roman" panose="02020603050405020304" pitchFamily="18" charset="0"/>
              </a:rPr>
              <a:t>Проектът предлага </a:t>
            </a:r>
            <a:r>
              <a:rPr lang="ru-RU" sz="2000" dirty="0" smtClean="0">
                <a:latin typeface="Times New Roman" panose="02020603050405020304" pitchFamily="18" charset="0"/>
                <a:cs typeface="Times New Roman" panose="02020603050405020304" pitchFamily="18" charset="0"/>
              </a:rPr>
              <a:t>дигитална </a:t>
            </a:r>
            <a:r>
              <a:rPr lang="ru-RU" sz="2000" dirty="0">
                <a:latin typeface="Times New Roman" panose="02020603050405020304" pitchFamily="18" charset="0"/>
                <a:cs typeface="Times New Roman" panose="02020603050405020304" pitchFamily="18" charset="0"/>
              </a:rPr>
              <a:t>алтернатива за по-удобно закупуване, управление и проверка на билети за събития.</a:t>
            </a:r>
            <a:endParaRPr lang="bg-B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9484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a:latin typeface="Times New Roman" panose="02020603050405020304" pitchFamily="18" charset="0"/>
                <a:cs typeface="Times New Roman" panose="02020603050405020304" pitchFamily="18" charset="0"/>
              </a:rPr>
              <a:t>Функционални изисквания</a:t>
            </a:r>
          </a:p>
        </p:txBody>
      </p:sp>
      <p:sp>
        <p:nvSpPr>
          <p:cNvPr id="5" name="Text Placeholder 2"/>
          <p:cNvSpPr>
            <a:spLocks noGrp="1"/>
          </p:cNvSpPr>
          <p:nvPr>
            <p:ph type="body" idx="1"/>
          </p:nvPr>
        </p:nvSpPr>
        <p:spPr>
          <a:xfrm>
            <a:off x="720000" y="1215749"/>
            <a:ext cx="7704000" cy="3270525"/>
          </a:xfrm>
        </p:spPr>
        <p:txBody>
          <a:bodyPr anchor="ctr"/>
          <a:lstStyle/>
          <a:p>
            <a:pPr marL="609600" indent="-457200">
              <a:buSzPct val="100000"/>
              <a:buFont typeface="+mj-lt"/>
              <a:buAutoNum type="arabicPeriod"/>
            </a:pPr>
            <a:r>
              <a:rPr lang="ru-RU" sz="2000" dirty="0">
                <a:latin typeface="Times New Roman" panose="02020603050405020304" pitchFamily="18" charset="0"/>
                <a:cs typeface="Times New Roman" panose="02020603050405020304" pitchFamily="18" charset="0"/>
              </a:rPr>
              <a:t>Автентикация на потребители</a:t>
            </a:r>
          </a:p>
          <a:p>
            <a:pPr marL="609600" indent="-457200">
              <a:buSzPct val="100000"/>
              <a:buFont typeface="+mj-lt"/>
              <a:buAutoNum type="arabicPeriod"/>
            </a:pPr>
            <a:r>
              <a:rPr lang="ru-RU" sz="2000" dirty="0">
                <a:latin typeface="Times New Roman" panose="02020603050405020304" pitchFamily="18" charset="0"/>
                <a:cs typeface="Times New Roman" panose="02020603050405020304" pitchFamily="18" charset="0"/>
              </a:rPr>
              <a:t>Управление на събития</a:t>
            </a:r>
          </a:p>
          <a:p>
            <a:pPr marL="609600" indent="-457200">
              <a:buSzPct val="100000"/>
              <a:buFont typeface="+mj-lt"/>
              <a:buAutoNum type="arabicPeriod"/>
            </a:pPr>
            <a:r>
              <a:rPr lang="ru-RU" sz="2000" dirty="0">
                <a:latin typeface="Times New Roman" panose="02020603050405020304" pitchFamily="18" charset="0"/>
                <a:cs typeface="Times New Roman" panose="02020603050405020304" pitchFamily="18" charset="0"/>
              </a:rPr>
              <a:t>Продажба на билети и плащания</a:t>
            </a:r>
          </a:p>
          <a:p>
            <a:pPr marL="609600" indent="-457200">
              <a:buSzPct val="100000"/>
              <a:buFont typeface="+mj-lt"/>
              <a:buAutoNum type="arabicPeriod"/>
            </a:pPr>
            <a:r>
              <a:rPr lang="ru-RU" sz="2000" dirty="0">
                <a:latin typeface="Times New Roman" panose="02020603050405020304" pitchFamily="18" charset="0"/>
                <a:cs typeface="Times New Roman" panose="02020603050405020304" pitchFamily="18" charset="0"/>
              </a:rPr>
              <a:t>Управление на места и секции</a:t>
            </a:r>
          </a:p>
          <a:p>
            <a:pPr marL="609600" indent="-457200">
              <a:buSzPct val="100000"/>
              <a:buFont typeface="+mj-lt"/>
              <a:buAutoNum type="arabicPeriod"/>
            </a:pPr>
            <a:r>
              <a:rPr lang="ru-RU" sz="2000" dirty="0">
                <a:latin typeface="Times New Roman" panose="02020603050405020304" pitchFamily="18" charset="0"/>
                <a:cs typeface="Times New Roman" panose="02020603050405020304" pitchFamily="18" charset="0"/>
              </a:rPr>
              <a:t>Генериране и изпращане на QR кодове </a:t>
            </a:r>
          </a:p>
        </p:txBody>
      </p:sp>
    </p:spTree>
    <p:extLst>
      <p:ext uri="{BB962C8B-B14F-4D97-AF65-F5344CB8AC3E}">
        <p14:creationId xmlns:p14="http://schemas.microsoft.com/office/powerpoint/2010/main" val="2947325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a:latin typeface="Times New Roman" panose="02020603050405020304" pitchFamily="18" charset="0"/>
                <a:cs typeface="Times New Roman" panose="02020603050405020304" pitchFamily="18" charset="0"/>
              </a:rPr>
              <a:t>Използвани технологии</a:t>
            </a:r>
          </a:p>
        </p:txBody>
      </p:sp>
      <p:sp>
        <p:nvSpPr>
          <p:cNvPr id="3" name="Text Placeholder 2"/>
          <p:cNvSpPr>
            <a:spLocks noGrp="1"/>
          </p:cNvSpPr>
          <p:nvPr>
            <p:ph type="body" idx="1"/>
          </p:nvPr>
        </p:nvSpPr>
        <p:spPr>
          <a:xfrm>
            <a:off x="720000" y="1215749"/>
            <a:ext cx="7704000" cy="3270525"/>
          </a:xfrm>
        </p:spPr>
        <p:txBody>
          <a:bodyPr anchor="ctr"/>
          <a:lstStyle/>
          <a:p>
            <a:r>
              <a:rPr lang="en-US" sz="2000" dirty="0">
                <a:latin typeface="Times New Roman" panose="02020603050405020304" pitchFamily="18" charset="0"/>
                <a:cs typeface="Times New Roman" panose="02020603050405020304" pitchFamily="18" charset="0"/>
              </a:rPr>
              <a:t>Frontend: </a:t>
            </a:r>
            <a:r>
              <a:rPr lang="en-US" sz="2000" dirty="0" smtClean="0">
                <a:latin typeface="Times New Roman" panose="02020603050405020304" pitchFamily="18" charset="0"/>
                <a:cs typeface="Times New Roman" panose="02020603050405020304" pitchFamily="18" charset="0"/>
              </a:rPr>
              <a:t>React</a:t>
            </a:r>
            <a:endParaRPr lang="bg-BG"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Backend: Spring Boot</a:t>
            </a:r>
          </a:p>
          <a:p>
            <a:r>
              <a:rPr lang="bg-BG" sz="2000" dirty="0">
                <a:latin typeface="Times New Roman" panose="02020603050405020304" pitchFamily="18" charset="0"/>
                <a:cs typeface="Times New Roman" panose="02020603050405020304" pitchFamily="18" charset="0"/>
              </a:rPr>
              <a:t>База данни</a:t>
            </a:r>
            <a:r>
              <a:rPr lang="en-US" sz="2000" dirty="0">
                <a:latin typeface="Times New Roman" panose="02020603050405020304" pitchFamily="18" charset="0"/>
                <a:cs typeface="Times New Roman" panose="02020603050405020304" pitchFamily="18" charset="0"/>
              </a:rPr>
              <a:t>: PostgreSQL</a:t>
            </a:r>
          </a:p>
          <a:p>
            <a:r>
              <a:rPr lang="bg-BG" sz="2000" dirty="0">
                <a:latin typeface="Times New Roman" panose="02020603050405020304" pitchFamily="18" charset="0"/>
                <a:cs typeface="Times New Roman" panose="02020603050405020304" pitchFamily="18" charset="0"/>
              </a:rPr>
              <a:t>Инфраструктура: </a:t>
            </a:r>
            <a:r>
              <a:rPr lang="en-US" sz="2000" dirty="0">
                <a:latin typeface="Times New Roman" panose="02020603050405020304" pitchFamily="18" charset="0"/>
                <a:cs typeface="Times New Roman" panose="02020603050405020304" pitchFamily="18" charset="0"/>
              </a:rPr>
              <a:t>Docker, </a:t>
            </a:r>
            <a:r>
              <a:rPr lang="en-US" sz="2000" dirty="0" err="1">
                <a:latin typeface="Times New Roman" panose="02020603050405020304" pitchFamily="18" charset="0"/>
                <a:cs typeface="Times New Roman" panose="02020603050405020304" pitchFamily="18" charset="0"/>
              </a:rPr>
              <a:t>Redis</a:t>
            </a:r>
            <a:endParaRPr lang="en-US" sz="2000" dirty="0">
              <a:latin typeface="Times New Roman" panose="02020603050405020304" pitchFamily="18" charset="0"/>
              <a:cs typeface="Times New Roman" panose="02020603050405020304" pitchFamily="18" charset="0"/>
            </a:endParaRPr>
          </a:p>
          <a:p>
            <a:r>
              <a:rPr lang="bg-BG" sz="2000" dirty="0">
                <a:latin typeface="Times New Roman" panose="02020603050405020304" pitchFamily="18" charset="0"/>
                <a:cs typeface="Times New Roman" panose="02020603050405020304" pitchFamily="18" charset="0"/>
              </a:rPr>
              <a:t>Интеграции: </a:t>
            </a:r>
            <a:r>
              <a:rPr lang="en-US" sz="2000" dirty="0" smtClean="0">
                <a:latin typeface="Times New Roman" panose="02020603050405020304" pitchFamily="18" charset="0"/>
                <a:cs typeface="Times New Roman" panose="02020603050405020304" pitchFamily="18" charset="0"/>
              </a:rPr>
              <a:t>Stripe</a:t>
            </a:r>
            <a:endParaRPr lang="bg-BG" sz="2000" dirty="0">
              <a:latin typeface="Times New Roman" panose="02020603050405020304" pitchFamily="18" charset="0"/>
              <a:cs typeface="Times New Roman" panose="02020603050405020304" pitchFamily="18" charset="0"/>
            </a:endParaRPr>
          </a:p>
          <a:p>
            <a:pPr marL="152400" indent="0">
              <a:buNone/>
            </a:pPr>
            <a:endParaRPr lang="bg-B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5389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Потребителски интерфейс</a:t>
            </a:r>
            <a:endParaRPr lang="bg-BG" sz="3200" b="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20000" y="1215749"/>
            <a:ext cx="7704000" cy="3270525"/>
          </a:xfrm>
        </p:spPr>
        <p:txBody>
          <a:bodyPr anchor="ctr"/>
          <a:lstStyle/>
          <a:p>
            <a:pPr marL="152400" indent="0">
              <a:buNone/>
            </a:pPr>
            <a:r>
              <a:rPr lang="ru-RU" sz="2000" dirty="0">
                <a:latin typeface="Times New Roman" panose="02020603050405020304" pitchFamily="18" charset="0"/>
                <a:cs typeface="Times New Roman" panose="02020603050405020304" pitchFamily="18" charset="0"/>
              </a:rPr>
              <a:t>Интерфейсът следва основния потребителски </a:t>
            </a:r>
            <a:r>
              <a:rPr lang="bg-BG" sz="2000" dirty="0" smtClean="0">
                <a:latin typeface="Times New Roman" panose="02020603050405020304" pitchFamily="18" charset="0"/>
                <a:cs typeface="Times New Roman" panose="02020603050405020304" pitchFamily="18" charset="0"/>
              </a:rPr>
              <a:t>път</a:t>
            </a:r>
            <a:r>
              <a:rPr lang="ru-RU" sz="2000" dirty="0" smtClean="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a:p>
            <a:pPr marL="152400" indent="0">
              <a:buNone/>
            </a:pPr>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Начална страница с каталог от събития</a:t>
            </a:r>
          </a:p>
          <a:p>
            <a:r>
              <a:rPr lang="ru-RU" sz="2000" dirty="0">
                <a:latin typeface="Times New Roman" panose="02020603050405020304" pitchFamily="18" charset="0"/>
                <a:cs typeface="Times New Roman" panose="02020603050405020304" pitchFamily="18" charset="0"/>
              </a:rPr>
              <a:t>Детайли за избрано събитие</a:t>
            </a:r>
          </a:p>
          <a:p>
            <a:r>
              <a:rPr lang="ru-RU" sz="2000" dirty="0">
                <a:latin typeface="Times New Roman" panose="02020603050405020304" pitchFamily="18" charset="0"/>
                <a:cs typeface="Times New Roman" panose="02020603050405020304" pitchFamily="18" charset="0"/>
              </a:rPr>
              <a:t>Избор на секция и места</a:t>
            </a:r>
          </a:p>
          <a:p>
            <a:r>
              <a:rPr lang="ru-RU" sz="2000" dirty="0">
                <a:latin typeface="Times New Roman" panose="02020603050405020304" pitchFamily="18" charset="0"/>
                <a:cs typeface="Times New Roman" panose="02020603050405020304" pitchFamily="18" charset="0"/>
              </a:rPr>
              <a:t>Страница за плащане</a:t>
            </a:r>
          </a:p>
          <a:p>
            <a:r>
              <a:rPr lang="ru-RU" sz="2000" dirty="0">
                <a:latin typeface="Times New Roman" panose="02020603050405020304" pitchFamily="18" charset="0"/>
                <a:cs typeface="Times New Roman" panose="02020603050405020304" pitchFamily="18" charset="0"/>
              </a:rPr>
              <a:t>Страница „Моите билети“</a:t>
            </a:r>
          </a:p>
          <a:p>
            <a:r>
              <a:rPr lang="ru-RU" sz="2000" dirty="0">
                <a:latin typeface="Times New Roman" panose="02020603050405020304" pitchFamily="18" charset="0"/>
                <a:cs typeface="Times New Roman" panose="02020603050405020304" pitchFamily="18" charset="0"/>
              </a:rPr>
              <a:t>Административен панел</a:t>
            </a:r>
            <a:endParaRPr lang="bg-B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6613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Архитектура</a:t>
            </a:r>
            <a:endParaRPr lang="bg-BG" sz="3200" b="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11571" y="1196411"/>
            <a:ext cx="6120858" cy="3444813"/>
          </a:xfrm>
          <a:prstGeom prst="rect">
            <a:avLst/>
          </a:prstGeom>
        </p:spPr>
      </p:pic>
    </p:spTree>
    <p:extLst>
      <p:ext uri="{BB962C8B-B14F-4D97-AF65-F5344CB8AC3E}">
        <p14:creationId xmlns:p14="http://schemas.microsoft.com/office/powerpoint/2010/main" val="36777882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Автентикация и роли</a:t>
            </a:r>
            <a:endParaRPr lang="bg-BG" sz="3200" b="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20000" y="1215749"/>
            <a:ext cx="4157842" cy="3270525"/>
          </a:xfrm>
        </p:spPr>
        <p:txBody>
          <a:bodyPr anchor="ctr"/>
          <a:lstStyle/>
          <a:p>
            <a:pPr>
              <a:spcAft>
                <a:spcPts val="400"/>
              </a:spcAft>
              <a:defRPr sz="158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Регистрацията и входът създават краткосрочен и обновяващ токен</a:t>
            </a:r>
          </a:p>
          <a:p>
            <a:pPr>
              <a:spcAft>
                <a:spcPts val="400"/>
              </a:spcAft>
              <a:defRPr sz="158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JWT филтърът извлича потребител и роля от заявката</a:t>
            </a:r>
          </a:p>
          <a:p>
            <a:pPr>
              <a:spcAft>
                <a:spcPts val="400"/>
              </a:spcAft>
              <a:defRPr sz="1580">
                <a:solidFill>
                  <a:srgbClr val="1B1B1B"/>
                </a:solidFill>
                <a:latin typeface="Didact Gothic"/>
              </a:defRPr>
            </a:pPr>
            <a:r>
              <a:rPr lang="ru-RU" sz="2000" dirty="0" smtClean="0">
                <a:latin typeface="Times New Roman" panose="02020603050405020304" pitchFamily="18" charset="0"/>
                <a:cs typeface="Times New Roman" panose="02020603050405020304" pitchFamily="18" charset="0"/>
              </a:rPr>
              <a:t>При </a:t>
            </a:r>
            <a:r>
              <a:rPr lang="ru-RU" sz="2000" dirty="0">
                <a:latin typeface="Times New Roman" panose="02020603050405020304" pitchFamily="18" charset="0"/>
                <a:cs typeface="Times New Roman" panose="02020603050405020304" pitchFamily="18" charset="0"/>
              </a:rPr>
              <a:t>изход от профила и промяна на чувствителни данни токените се добавят в списък с невалидни токени в Redis</a:t>
            </a:r>
            <a:endParaRPr lang="bg-BG" sz="20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4908479" y="1112200"/>
            <a:ext cx="2144463" cy="2971800"/>
          </a:xfrm>
          <a:prstGeom prst="roundRect">
            <a:avLst/>
          </a:prstGeom>
          <a:solidFill>
            <a:srgbClr val="FFFFFF"/>
          </a:solidFill>
          <a:ln>
            <a:solidFill>
              <a:srgbClr val="CFD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93511" y="2342645"/>
            <a:ext cx="2100550" cy="818686"/>
          </a:xfrm>
          <a:prstGeom prst="rect">
            <a:avLst/>
          </a:prstGeom>
          <a:noFill/>
        </p:spPr>
        <p:txBody>
          <a:bodyPr wrap="square" lIns="18288" tIns="9144" rIns="18288" bIns="9144" anchor="t">
            <a:spAutoFit/>
          </a:bodyPr>
          <a:lstStyle/>
          <a:p>
            <a:pPr marL="285750" lvl="0" indent="-285750">
              <a:buFont typeface="Wingdings" panose="05000000000000000000" pitchFamily="2" charset="2"/>
              <a:buChar char="Ø"/>
            </a:pPr>
            <a:r>
              <a:rPr lang="ru-RU" sz="1300" dirty="0" smtClean="0">
                <a:solidFill>
                  <a:srgbClr val="FAFAFA">
                    <a:lumMod val="10000"/>
                  </a:srgbClr>
                </a:solidFill>
                <a:latin typeface="Times New Roman" panose="02020603050405020304" pitchFamily="18" charset="0"/>
                <a:cs typeface="Times New Roman" panose="02020603050405020304" pitchFamily="18" charset="0"/>
              </a:rPr>
              <a:t>разглежда </a:t>
            </a:r>
            <a:r>
              <a:rPr lang="ru-RU" sz="1300" dirty="0">
                <a:solidFill>
                  <a:srgbClr val="FAFAFA">
                    <a:lumMod val="10000"/>
                  </a:srgbClr>
                </a:solidFill>
                <a:latin typeface="Times New Roman" panose="02020603050405020304" pitchFamily="18" charset="0"/>
                <a:cs typeface="Times New Roman" panose="02020603050405020304" pitchFamily="18" charset="0"/>
              </a:rPr>
              <a:t>събития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избира </a:t>
            </a:r>
            <a:r>
              <a:rPr lang="ru-RU" sz="1300" dirty="0">
                <a:solidFill>
                  <a:srgbClr val="FAFAFA">
                    <a:lumMod val="10000"/>
                  </a:srgbClr>
                </a:solidFill>
                <a:latin typeface="Times New Roman" panose="02020603050405020304" pitchFamily="18" charset="0"/>
                <a:cs typeface="Times New Roman" panose="02020603050405020304" pitchFamily="18" charset="0"/>
              </a:rPr>
              <a:t>секция и места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преминава </a:t>
            </a:r>
            <a:r>
              <a:rPr lang="ru-RU" sz="1300" dirty="0">
                <a:solidFill>
                  <a:srgbClr val="FAFAFA">
                    <a:lumMod val="10000"/>
                  </a:srgbClr>
                </a:solidFill>
                <a:latin typeface="Times New Roman" panose="02020603050405020304" pitchFamily="18" charset="0"/>
                <a:cs typeface="Times New Roman" panose="02020603050405020304" pitchFamily="18" charset="0"/>
              </a:rPr>
              <a:t>през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плащане</a:t>
            </a:r>
            <a:r>
              <a:rPr lang="ru-RU" sz="1300" dirty="0">
                <a:solidFill>
                  <a:srgbClr val="FAFAFA">
                    <a:lumMod val="10000"/>
                  </a:srgbClr>
                </a:solidFill>
                <a:latin typeface="Times New Roman" panose="02020603050405020304" pitchFamily="18" charset="0"/>
                <a:cs typeface="Times New Roman" panose="02020603050405020304" pitchFamily="18" charset="0"/>
              </a:rPr>
              <a:t>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вижда </a:t>
            </a:r>
            <a:r>
              <a:rPr lang="ru-RU" sz="1300" dirty="0">
                <a:solidFill>
                  <a:srgbClr val="FAFAFA">
                    <a:lumMod val="10000"/>
                  </a:srgbClr>
                </a:solidFill>
                <a:latin typeface="Times New Roman" panose="02020603050405020304" pitchFamily="18" charset="0"/>
                <a:cs typeface="Times New Roman" panose="02020603050405020304" pitchFamily="18" charset="0"/>
              </a:rPr>
              <a:t>закупени билети</a:t>
            </a:r>
          </a:p>
        </p:txBody>
      </p:sp>
      <p:sp>
        <p:nvSpPr>
          <p:cNvPr id="7" name="Rounded Rectangle 6"/>
          <p:cNvSpPr/>
          <p:nvPr/>
        </p:nvSpPr>
        <p:spPr>
          <a:xfrm>
            <a:off x="7135179" y="1112200"/>
            <a:ext cx="1901666" cy="2971800"/>
          </a:xfrm>
          <a:prstGeom prst="roundRect">
            <a:avLst/>
          </a:prstGeom>
          <a:solidFill>
            <a:srgbClr val="FFFFFF"/>
          </a:solidFill>
          <a:ln>
            <a:solidFill>
              <a:srgbClr val="CFD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4850" y="2342645"/>
            <a:ext cx="2125992" cy="818686"/>
          </a:xfrm>
          <a:prstGeom prst="rect">
            <a:avLst/>
          </a:prstGeom>
          <a:noFill/>
        </p:spPr>
        <p:txBody>
          <a:bodyPr wrap="square" lIns="18288" tIns="9144" rIns="18288" bIns="9144" anchor="t">
            <a:spAutoFit/>
          </a:bodyPr>
          <a:lstStyle/>
          <a:p>
            <a:pPr marL="285750" lvl="0" indent="-285750">
              <a:buFont typeface="Wingdings" panose="05000000000000000000" pitchFamily="2" charset="2"/>
              <a:buChar char="Ø"/>
            </a:pPr>
            <a:r>
              <a:rPr lang="ru-RU" sz="1300" dirty="0" smtClean="0">
                <a:solidFill>
                  <a:srgbClr val="FAFAFA">
                    <a:lumMod val="10000"/>
                  </a:srgbClr>
                </a:solidFill>
                <a:latin typeface="Times New Roman" panose="02020603050405020304" pitchFamily="18" charset="0"/>
                <a:cs typeface="Times New Roman" panose="02020603050405020304" pitchFamily="18" charset="0"/>
              </a:rPr>
              <a:t>управлява </a:t>
            </a:r>
            <a:r>
              <a:rPr lang="ru-RU" sz="1300" dirty="0">
                <a:solidFill>
                  <a:srgbClr val="FAFAFA">
                    <a:lumMod val="10000"/>
                  </a:srgbClr>
                </a:solidFill>
                <a:latin typeface="Times New Roman" panose="02020603050405020304" pitchFamily="18" charset="0"/>
                <a:cs typeface="Times New Roman" panose="02020603050405020304" pitchFamily="18" charset="0"/>
              </a:rPr>
              <a:t>събития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следи </a:t>
            </a:r>
            <a:r>
              <a:rPr lang="ru-RU" sz="1300" dirty="0">
                <a:solidFill>
                  <a:srgbClr val="FAFAFA">
                    <a:lumMod val="10000"/>
                  </a:srgbClr>
                </a:solidFill>
                <a:latin typeface="Times New Roman" panose="02020603050405020304" pitchFamily="18" charset="0"/>
                <a:cs typeface="Times New Roman" panose="02020603050405020304" pitchFamily="18" charset="0"/>
              </a:rPr>
              <a:t>билети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има </a:t>
            </a:r>
            <a:r>
              <a:rPr lang="ru-RU" sz="1300" dirty="0">
                <a:solidFill>
                  <a:srgbClr val="FAFAFA">
                    <a:lumMod val="10000"/>
                  </a:srgbClr>
                </a:solidFill>
                <a:latin typeface="Times New Roman" panose="02020603050405020304" pitchFamily="18" charset="0"/>
                <a:cs typeface="Times New Roman" panose="02020603050405020304" pitchFamily="18" charset="0"/>
              </a:rPr>
              <a:t>защитен достъп
</a:t>
            </a:r>
            <a:r>
              <a:rPr lang="ru-RU" sz="1300" dirty="0" smtClean="0">
                <a:solidFill>
                  <a:srgbClr val="FAFAFA">
                    <a:lumMod val="10000"/>
                  </a:srgbClr>
                </a:solidFill>
                <a:latin typeface="Times New Roman" panose="02020603050405020304" pitchFamily="18" charset="0"/>
                <a:cs typeface="Times New Roman" panose="02020603050405020304" pitchFamily="18" charset="0"/>
              </a:rPr>
              <a:t>валидира </a:t>
            </a:r>
            <a:r>
              <a:rPr lang="ru-RU" sz="1300" dirty="0">
                <a:solidFill>
                  <a:srgbClr val="FAFAFA">
                    <a:lumMod val="10000"/>
                  </a:srgbClr>
                </a:solidFill>
                <a:latin typeface="Times New Roman" panose="02020603050405020304" pitchFamily="18" charset="0"/>
                <a:cs typeface="Times New Roman" panose="02020603050405020304" pitchFamily="18" charset="0"/>
              </a:rPr>
              <a:t>QR кодове</a:t>
            </a:r>
          </a:p>
        </p:txBody>
      </p:sp>
      <p:pic>
        <p:nvPicPr>
          <p:cNvPr id="23" name="Picture 22"/>
          <p:cNvPicPr>
            <a:picLocks noChangeAspect="1"/>
          </p:cNvPicPr>
          <p:nvPr/>
        </p:nvPicPr>
        <p:blipFill>
          <a:blip r:embed="rId2"/>
          <a:stretch>
            <a:fillRect/>
          </a:stretch>
        </p:blipFill>
        <p:spPr>
          <a:xfrm>
            <a:off x="7506291" y="1131137"/>
            <a:ext cx="1159441" cy="1107526"/>
          </a:xfrm>
          <a:prstGeom prst="rect">
            <a:avLst/>
          </a:prstGeom>
        </p:spPr>
      </p:pic>
      <p:pic>
        <p:nvPicPr>
          <p:cNvPr id="24" name="Picture 23"/>
          <p:cNvPicPr>
            <a:picLocks noChangeAspect="1"/>
          </p:cNvPicPr>
          <p:nvPr/>
        </p:nvPicPr>
        <p:blipFill>
          <a:blip r:embed="rId3"/>
          <a:stretch>
            <a:fillRect/>
          </a:stretch>
        </p:blipFill>
        <p:spPr>
          <a:xfrm>
            <a:off x="5397327" y="1131137"/>
            <a:ext cx="1166766" cy="1149178"/>
          </a:xfrm>
          <a:prstGeom prst="rect">
            <a:avLst/>
          </a:prstGeom>
        </p:spPr>
      </p:pic>
    </p:spTree>
    <p:extLst>
      <p:ext uri="{BB962C8B-B14F-4D97-AF65-F5344CB8AC3E}">
        <p14:creationId xmlns:p14="http://schemas.microsoft.com/office/powerpoint/2010/main" val="1817614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a:latin typeface="Times New Roman" panose="02020603050405020304" pitchFamily="18" charset="0"/>
                <a:cs typeface="Times New Roman" panose="02020603050405020304" pitchFamily="18" charset="0"/>
              </a:rPr>
              <a:t>Резервации и плащане</a:t>
            </a:r>
          </a:p>
        </p:txBody>
      </p:sp>
      <p:sp>
        <p:nvSpPr>
          <p:cNvPr id="3" name="Text Placeholder 2"/>
          <p:cNvSpPr>
            <a:spLocks noGrp="1"/>
          </p:cNvSpPr>
          <p:nvPr>
            <p:ph type="body" idx="1"/>
          </p:nvPr>
        </p:nvSpPr>
        <p:spPr>
          <a:xfrm>
            <a:off x="720000" y="1215749"/>
            <a:ext cx="7102406" cy="3270525"/>
          </a:xfrm>
        </p:spPr>
        <p:txBody>
          <a:bodyPr anchor="ctr"/>
          <a:lstStyle/>
          <a:p>
            <a:pPr marL="495300" indent="-342900">
              <a:spcAft>
                <a:spcPts val="400"/>
              </a:spcAft>
              <a:buSzPct val="100000"/>
              <a:buFont typeface="+mj-lt"/>
              <a:buAutoNum type="arabicPeriod"/>
              <a:defRPr sz="153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Проверява се дали избраните места са свободни</a:t>
            </a:r>
          </a:p>
          <a:p>
            <a:pPr marL="495300" indent="-342900">
              <a:spcAft>
                <a:spcPts val="400"/>
              </a:spcAft>
              <a:buSzPct val="100000"/>
              <a:buFont typeface="+mj-lt"/>
              <a:buAutoNum type="arabicPeriod"/>
              <a:defRPr sz="153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Създава се временна резервация с краен срок</a:t>
            </a:r>
          </a:p>
          <a:p>
            <a:pPr marL="495300" indent="-342900">
              <a:spcAft>
                <a:spcPts val="400"/>
              </a:spcAft>
              <a:buSzPct val="100000"/>
              <a:buFont typeface="+mj-lt"/>
              <a:buAutoNum type="arabicPeriod"/>
              <a:defRPr sz="153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Създава се обект за плащане в Stripe</a:t>
            </a:r>
          </a:p>
          <a:p>
            <a:pPr marL="495300" indent="-342900">
              <a:spcAft>
                <a:spcPts val="400"/>
              </a:spcAft>
              <a:buSzPct val="100000"/>
              <a:buFont typeface="+mj-lt"/>
              <a:buAutoNum type="arabicPeriod"/>
              <a:defRPr sz="153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Потребителят извършва </a:t>
            </a:r>
            <a:r>
              <a:rPr lang="ru-RU" sz="2000" dirty="0" smtClean="0">
                <a:latin typeface="Times New Roman" panose="02020603050405020304" pitchFamily="18" charset="0"/>
                <a:cs typeface="Times New Roman" panose="02020603050405020304" pitchFamily="18" charset="0"/>
              </a:rPr>
              <a:t>плащане</a:t>
            </a:r>
          </a:p>
          <a:p>
            <a:pPr marL="495300" indent="-342900">
              <a:spcAft>
                <a:spcPts val="400"/>
              </a:spcAft>
              <a:buSzPct val="100000"/>
              <a:buFont typeface="+mj-lt"/>
              <a:buAutoNum type="arabicPeriod"/>
              <a:defRPr sz="1530">
                <a:solidFill>
                  <a:srgbClr val="1B1B1B"/>
                </a:solidFill>
                <a:latin typeface="Didact Gothic"/>
              </a:defRPr>
            </a:pPr>
            <a:r>
              <a:rPr lang="ru-RU" sz="2000" dirty="0">
                <a:latin typeface="Times New Roman" panose="02020603050405020304" pitchFamily="18" charset="0"/>
                <a:cs typeface="Times New Roman" panose="02020603050405020304" pitchFamily="18" charset="0"/>
              </a:rPr>
              <a:t>Потвърждение на </a:t>
            </a:r>
            <a:r>
              <a:rPr lang="ru-RU" sz="2000" dirty="0" smtClean="0">
                <a:latin typeface="Times New Roman" panose="02020603050405020304" pitchFamily="18" charset="0"/>
                <a:cs typeface="Times New Roman" panose="02020603050405020304" pitchFamily="18" charset="0"/>
              </a:rPr>
              <a:t>плащането</a:t>
            </a:r>
          </a:p>
          <a:p>
            <a:pPr marL="495300" indent="-342900">
              <a:spcAft>
                <a:spcPts val="400"/>
              </a:spcAft>
              <a:buSzPct val="100000"/>
              <a:buFont typeface="+mj-lt"/>
              <a:buAutoNum type="arabicPeriod"/>
              <a:defRPr sz="1530">
                <a:solidFill>
                  <a:srgbClr val="1B1B1B"/>
                </a:solidFill>
                <a:latin typeface="Didact Gothic"/>
              </a:defRPr>
            </a:pPr>
            <a:r>
              <a:rPr lang="ru-RU" sz="2000" dirty="0" smtClean="0">
                <a:latin typeface="Times New Roman" panose="02020603050405020304" pitchFamily="18" charset="0"/>
                <a:cs typeface="Times New Roman" panose="02020603050405020304" pitchFamily="18" charset="0"/>
              </a:rPr>
              <a:t>Създаване на билет</a:t>
            </a:r>
            <a:endParaRPr lang="ru-RU"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5957887" y="1421607"/>
            <a:ext cx="3064667" cy="3064667"/>
          </a:xfrm>
          <a:prstGeom prst="rect">
            <a:avLst/>
          </a:prstGeom>
        </p:spPr>
      </p:pic>
    </p:spTree>
    <p:extLst>
      <p:ext uri="{BB962C8B-B14F-4D97-AF65-F5344CB8AC3E}">
        <p14:creationId xmlns:p14="http://schemas.microsoft.com/office/powerpoint/2010/main" val="7303649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Процес на плащане</a:t>
            </a:r>
            <a:endParaRPr lang="bg-BG" sz="3200" b="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130" y="1060864"/>
            <a:ext cx="4822033" cy="3850223"/>
          </a:xfrm>
          <a:prstGeom prst="rect">
            <a:avLst/>
          </a:prstGeom>
        </p:spPr>
      </p:pic>
    </p:spTree>
    <p:extLst>
      <p:ext uri="{BB962C8B-B14F-4D97-AF65-F5344CB8AC3E}">
        <p14:creationId xmlns:p14="http://schemas.microsoft.com/office/powerpoint/2010/main" val="36157128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bg-BG" sz="3200" b="0" dirty="0" smtClean="0">
                <a:latin typeface="Times New Roman" panose="02020603050405020304" pitchFamily="18" charset="0"/>
                <a:cs typeface="Times New Roman" panose="02020603050405020304" pitchFamily="18" charset="0"/>
              </a:rPr>
              <a:t>Билети</a:t>
            </a:r>
            <a:r>
              <a:rPr lang="en-US" sz="3200" b="0" dirty="0" smtClean="0">
                <a:latin typeface="Times New Roman" panose="02020603050405020304" pitchFamily="18" charset="0"/>
                <a:cs typeface="Times New Roman" panose="02020603050405020304" pitchFamily="18" charset="0"/>
              </a:rPr>
              <a:t> </a:t>
            </a:r>
            <a:r>
              <a:rPr lang="bg-BG" sz="3200" b="0" dirty="0" smtClean="0">
                <a:latin typeface="Times New Roman" panose="02020603050405020304" pitchFamily="18" charset="0"/>
                <a:cs typeface="Times New Roman" panose="02020603050405020304" pitchFamily="18" charset="0"/>
              </a:rPr>
              <a:t>и </a:t>
            </a:r>
            <a:r>
              <a:rPr lang="en-US" sz="3200" b="0" dirty="0" smtClean="0">
                <a:latin typeface="Times New Roman" panose="02020603050405020304" pitchFamily="18" charset="0"/>
                <a:cs typeface="Times New Roman" panose="02020603050405020304" pitchFamily="18" charset="0"/>
              </a:rPr>
              <a:t>QR </a:t>
            </a:r>
            <a:r>
              <a:rPr lang="bg-BG" sz="3200" b="0" dirty="0" smtClean="0">
                <a:latin typeface="Times New Roman" panose="02020603050405020304" pitchFamily="18" charset="0"/>
                <a:cs typeface="Times New Roman" panose="02020603050405020304" pitchFamily="18" charset="0"/>
              </a:rPr>
              <a:t>кодове</a:t>
            </a:r>
            <a:endParaRPr lang="bg-BG" sz="3200" b="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20000" y="1215749"/>
            <a:ext cx="3944869" cy="3270525"/>
          </a:xfrm>
        </p:spPr>
        <p:txBody>
          <a:bodyPr anchor="ctr"/>
          <a:lstStyle/>
          <a:p>
            <a:r>
              <a:rPr lang="ru-RU" sz="2000" dirty="0">
                <a:latin typeface="Times New Roman" panose="02020603050405020304" pitchFamily="18" charset="0"/>
                <a:cs typeface="Times New Roman" panose="02020603050405020304" pitchFamily="18" charset="0"/>
              </a:rPr>
              <a:t>Билетът е свързан със събитие, потребител и </a:t>
            </a:r>
            <a:r>
              <a:rPr lang="ru-RU" sz="2000" dirty="0" smtClean="0">
                <a:latin typeface="Times New Roman" panose="02020603050405020304" pitchFamily="18" charset="0"/>
                <a:cs typeface="Times New Roman" panose="02020603050405020304" pitchFamily="18" charset="0"/>
              </a:rPr>
              <a:t>места</a:t>
            </a:r>
          </a:p>
          <a:p>
            <a:r>
              <a:rPr lang="ru-RU" sz="2000" dirty="0" smtClean="0">
                <a:latin typeface="Times New Roman" panose="02020603050405020304" pitchFamily="18" charset="0"/>
                <a:cs typeface="Times New Roman" panose="02020603050405020304" pitchFamily="18" charset="0"/>
              </a:rPr>
              <a:t>След </a:t>
            </a:r>
            <a:r>
              <a:rPr lang="ru-RU" sz="2000" dirty="0">
                <a:latin typeface="Times New Roman" panose="02020603050405020304" pitchFamily="18" charset="0"/>
                <a:cs typeface="Times New Roman" panose="02020603050405020304" pitchFamily="18" charset="0"/>
              </a:rPr>
              <a:t>покупка местата се маркират като недостъпни</a:t>
            </a:r>
          </a:p>
          <a:p>
            <a:r>
              <a:rPr lang="ru-RU" sz="2000" dirty="0">
                <a:latin typeface="Times New Roman" panose="02020603050405020304" pitchFamily="18" charset="0"/>
                <a:cs typeface="Times New Roman" panose="02020603050405020304" pitchFamily="18" charset="0"/>
              </a:rPr>
              <a:t>Генерира се QR код със защитен HMAC токен за проверка</a:t>
            </a:r>
          </a:p>
          <a:p>
            <a:r>
              <a:rPr lang="ru-RU" sz="2000" dirty="0">
                <a:latin typeface="Times New Roman" panose="02020603050405020304" pitchFamily="18" charset="0"/>
                <a:cs typeface="Times New Roman" panose="02020603050405020304" pitchFamily="18" charset="0"/>
              </a:rPr>
              <a:t>Имейлът се изпраща след успешна </a:t>
            </a:r>
            <a:r>
              <a:rPr lang="ru-RU" sz="2000" dirty="0" smtClean="0">
                <a:latin typeface="Times New Roman" panose="02020603050405020304" pitchFamily="18" charset="0"/>
                <a:cs typeface="Times New Roman" panose="02020603050405020304" pitchFamily="18" charset="0"/>
              </a:rPr>
              <a:t>транзакция</a:t>
            </a:r>
            <a:endParaRPr lang="ru-RU"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5150644" y="539500"/>
            <a:ext cx="3007518" cy="4424019"/>
          </a:xfrm>
          <a:prstGeom prst="rect">
            <a:avLst/>
          </a:prstGeom>
        </p:spPr>
      </p:pic>
    </p:spTree>
    <p:extLst>
      <p:ext uri="{BB962C8B-B14F-4D97-AF65-F5344CB8AC3E}">
        <p14:creationId xmlns:p14="http://schemas.microsoft.com/office/powerpoint/2010/main" val="22523173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418" y="2125412"/>
            <a:ext cx="7704000" cy="889250"/>
          </a:xfrm>
        </p:spPr>
        <p:txBody>
          <a:bodyPr anchor="ctr"/>
          <a:lstStyle/>
          <a:p>
            <a:r>
              <a:rPr lang="bg-BG" sz="4800" dirty="0" smtClean="0">
                <a:latin typeface="Times New Roman" panose="02020603050405020304" pitchFamily="18" charset="0"/>
                <a:cs typeface="Times New Roman" panose="02020603050405020304" pitchFamily="18" charset="0"/>
              </a:rPr>
              <a:t>ДЕМО</a:t>
            </a:r>
            <a:endParaRPr lang="bg-BG"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76011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418" y="2125412"/>
            <a:ext cx="7704000" cy="889250"/>
          </a:xfrm>
        </p:spPr>
        <p:txBody>
          <a:bodyPr anchor="ctr"/>
          <a:lstStyle/>
          <a:p>
            <a:r>
              <a:rPr lang="bg-BG" sz="3600" b="0" dirty="0" smtClean="0">
                <a:latin typeface="Times New Roman" panose="02020603050405020304" pitchFamily="18" charset="0"/>
                <a:cs typeface="Times New Roman" panose="02020603050405020304" pitchFamily="18" charset="0"/>
              </a:rPr>
              <a:t>Благодаря Ви за вниманието!</a:t>
            </a:r>
            <a:endParaRPr lang="bg-BG" sz="36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9617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en-US" sz="1800" dirty="0" smtClean="0">
                <a:latin typeface="Times New Roman" panose="02020603050405020304" pitchFamily="18" charset="0"/>
                <a:cs typeface="Times New Roman" panose="02020603050405020304" pitchFamily="18" charset="0"/>
              </a:rPr>
              <a:t>1. </a:t>
            </a:r>
            <a:r>
              <a:rPr lang="ru-RU" sz="1800" dirty="0" smtClean="0">
                <a:latin typeface="Times New Roman" panose="02020603050405020304" pitchFamily="18" charset="0"/>
                <a:cs typeface="Times New Roman" panose="02020603050405020304" pitchFamily="18" charset="0"/>
              </a:rPr>
              <a:t>Песимистичното </a:t>
            </a:r>
            <a:r>
              <a:rPr lang="ru-RU" sz="1800" dirty="0">
                <a:latin typeface="Times New Roman" panose="02020603050405020304" pitchFamily="18" charset="0"/>
                <a:cs typeface="Times New Roman" panose="02020603050405020304" pitchFamily="18" charset="0"/>
              </a:rPr>
              <a:t>заключване на места е реализирано на ниво база данни през JPA. Какво ще се случи в сценария, в който потребител започне checkout, заключи определени места, но не завърши плащането (затваря браузъра, мрежата прекъсва, Stripe бави отговор)? Кога и как тези места стават отново налични за други купувачи?</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ru-RU" sz="1800" dirty="0">
                <a:latin typeface="Times New Roman" panose="02020603050405020304" pitchFamily="18" charset="0"/>
                <a:cs typeface="Times New Roman" panose="02020603050405020304" pitchFamily="18" charset="0"/>
              </a:rPr>
              <a:t>При започване на checkout местата се резервират временно за 10 минути, вместо да се разчита само на database lock. Ако плащането не завърши навреме, scheduled cleanup процес маркира резервацията като изтекла и освобождава местата за други потребители.</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1034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smtClean="0">
                <a:latin typeface="Times New Roman" panose="02020603050405020304" pitchFamily="18" charset="0"/>
                <a:cs typeface="Times New Roman" panose="02020603050405020304" pitchFamily="18" charset="0"/>
              </a:rPr>
              <a:t>2</a:t>
            </a:r>
            <a:r>
              <a:rPr lang="en-US" sz="1800" dirty="0" smtClean="0">
                <a:latin typeface="Times New Roman" panose="02020603050405020304" pitchFamily="18" charset="0"/>
                <a:cs typeface="Times New Roman" panose="02020603050405020304" pitchFamily="18" charset="0"/>
              </a:rPr>
              <a:t>. </a:t>
            </a:r>
            <a:r>
              <a:rPr lang="bg-BG" sz="1800" dirty="0">
                <a:latin typeface="Times New Roman" panose="02020603050405020304" pitchFamily="18" charset="0"/>
                <a:cs typeface="Times New Roman" panose="02020603050405020304" pitchFamily="18" charset="0"/>
              </a:rPr>
              <a:t>В кода са реализирани едновременно </a:t>
            </a:r>
            <a:r>
              <a:rPr lang="en-US" sz="1800" dirty="0" err="1">
                <a:latin typeface="Times New Roman" panose="02020603050405020304" pitchFamily="18" charset="0"/>
                <a:cs typeface="Times New Roman" panose="02020603050405020304" pitchFamily="18" charset="0"/>
              </a:rPr>
              <a:t>StripeService</a:t>
            </a:r>
            <a:r>
              <a:rPr lang="en-US" sz="1800" dirty="0">
                <a:latin typeface="Times New Roman" panose="02020603050405020304" pitchFamily="18" charset="0"/>
                <a:cs typeface="Times New Roman" panose="02020603050405020304" pitchFamily="18" charset="0"/>
              </a:rPr>
              <a:t> (</a:t>
            </a:r>
            <a:r>
              <a:rPr lang="bg-BG" sz="1800" dirty="0">
                <a:latin typeface="Times New Roman" panose="02020603050405020304" pitchFamily="18" charset="0"/>
                <a:cs typeface="Times New Roman" panose="02020603050405020304" pitchFamily="18" charset="0"/>
              </a:rPr>
              <a:t>синхронно потвърждение чрез </a:t>
            </a:r>
            <a:r>
              <a:rPr lang="en-US" sz="1800" dirty="0" err="1">
                <a:latin typeface="Times New Roman" panose="02020603050405020304" pitchFamily="18" charset="0"/>
                <a:cs typeface="Times New Roman" panose="02020603050405020304" pitchFamily="18" charset="0"/>
              </a:rPr>
              <a:t>PaymentIntent</a:t>
            </a:r>
            <a:r>
              <a:rPr lang="en-US" sz="1800" dirty="0">
                <a:latin typeface="Times New Roman" panose="02020603050405020304" pitchFamily="18" charset="0"/>
                <a:cs typeface="Times New Roman" panose="02020603050405020304" pitchFamily="18" charset="0"/>
              </a:rPr>
              <a:t>) </a:t>
            </a:r>
            <a:r>
              <a:rPr lang="bg-BG" sz="1800" dirty="0">
                <a:latin typeface="Times New Roman" panose="02020603050405020304" pitchFamily="18" charset="0"/>
                <a:cs typeface="Times New Roman" panose="02020603050405020304" pitchFamily="18" charset="0"/>
              </a:rPr>
              <a:t>и </a:t>
            </a:r>
            <a:r>
              <a:rPr lang="en-US" sz="1800" dirty="0" err="1">
                <a:latin typeface="Times New Roman" panose="02020603050405020304" pitchFamily="18" charset="0"/>
                <a:cs typeface="Times New Roman" panose="02020603050405020304" pitchFamily="18" charset="0"/>
              </a:rPr>
              <a:t>StripeWebhookController</a:t>
            </a:r>
            <a:r>
              <a:rPr lang="en-US" sz="1800" dirty="0">
                <a:latin typeface="Times New Roman" panose="02020603050405020304" pitchFamily="18" charset="0"/>
                <a:cs typeface="Times New Roman" panose="02020603050405020304" pitchFamily="18" charset="0"/>
              </a:rPr>
              <a:t> (</a:t>
            </a:r>
            <a:r>
              <a:rPr lang="bg-BG" sz="1800" dirty="0">
                <a:latin typeface="Times New Roman" panose="02020603050405020304" pitchFamily="18" charset="0"/>
                <a:cs typeface="Times New Roman" panose="02020603050405020304" pitchFamily="18" charset="0"/>
              </a:rPr>
              <a:t>асинхронно получаване на събития от </a:t>
            </a:r>
            <a:r>
              <a:rPr lang="en-US" sz="1800" dirty="0">
                <a:latin typeface="Times New Roman" panose="02020603050405020304" pitchFamily="18" charset="0"/>
                <a:cs typeface="Times New Roman" panose="02020603050405020304" pitchFamily="18" charset="0"/>
              </a:rPr>
              <a:t>Stripe). </a:t>
            </a:r>
            <a:r>
              <a:rPr lang="bg-BG" sz="1800" dirty="0">
                <a:latin typeface="Times New Roman" panose="02020603050405020304" pitchFamily="18" charset="0"/>
                <a:cs typeface="Times New Roman" panose="02020603050405020304" pitchFamily="18" charset="0"/>
              </a:rPr>
              <a:t>Какви конкретни сценарии обработва </a:t>
            </a:r>
            <a:r>
              <a:rPr lang="en-US" sz="1800" dirty="0" err="1">
                <a:latin typeface="Times New Roman" panose="02020603050405020304" pitchFamily="18" charset="0"/>
                <a:cs typeface="Times New Roman" panose="02020603050405020304" pitchFamily="18" charset="0"/>
              </a:rPr>
              <a:t>webhook</a:t>
            </a:r>
            <a:r>
              <a:rPr lang="en-US" sz="1800" dirty="0">
                <a:latin typeface="Times New Roman" panose="02020603050405020304" pitchFamily="18" charset="0"/>
                <a:cs typeface="Times New Roman" panose="02020603050405020304" pitchFamily="18" charset="0"/>
              </a:rPr>
              <a:t>-</a:t>
            </a:r>
            <a:r>
              <a:rPr lang="bg-BG" sz="1800" dirty="0">
                <a:latin typeface="Times New Roman" panose="02020603050405020304" pitchFamily="18" charset="0"/>
                <a:cs typeface="Times New Roman" panose="02020603050405020304" pitchFamily="18" charset="0"/>
              </a:rPr>
              <a:t>ът – например успешно плащане, върнато плащане (</a:t>
            </a:r>
            <a:r>
              <a:rPr lang="en-US" sz="1800" dirty="0">
                <a:latin typeface="Times New Roman" panose="02020603050405020304" pitchFamily="18" charset="0"/>
                <a:cs typeface="Times New Roman" panose="02020603050405020304" pitchFamily="18" charset="0"/>
              </a:rPr>
              <a:t>refund), </a:t>
            </a:r>
            <a:r>
              <a:rPr lang="bg-BG" sz="1800" dirty="0">
                <a:latin typeface="Times New Roman" panose="02020603050405020304" pitchFamily="18" charset="0"/>
                <a:cs typeface="Times New Roman" panose="02020603050405020304" pitchFamily="18" charset="0"/>
              </a:rPr>
              <a:t>неуспешно плащане след известно време? Какво се случва, ако и двата пътя (синхронен и </a:t>
            </a:r>
            <a:r>
              <a:rPr lang="en-US" sz="1800" dirty="0" err="1">
                <a:latin typeface="Times New Roman" panose="02020603050405020304" pitchFamily="18" charset="0"/>
                <a:cs typeface="Times New Roman" panose="02020603050405020304" pitchFamily="18" charset="0"/>
              </a:rPr>
              <a:t>webhook</a:t>
            </a:r>
            <a:r>
              <a:rPr lang="en-US" sz="1800" dirty="0">
                <a:latin typeface="Times New Roman" panose="02020603050405020304" pitchFamily="18" charset="0"/>
                <a:cs typeface="Times New Roman" panose="02020603050405020304" pitchFamily="18" charset="0"/>
              </a:rPr>
              <a:t>) </a:t>
            </a:r>
            <a:r>
              <a:rPr lang="bg-BG" sz="1800" dirty="0">
                <a:latin typeface="Times New Roman" panose="02020603050405020304" pitchFamily="18" charset="0"/>
                <a:cs typeface="Times New Roman" panose="02020603050405020304" pitchFamily="18" charset="0"/>
              </a:rPr>
              <a:t>се изпълнят за едно и също плащане – има ли защита от </a:t>
            </a:r>
            <a:r>
              <a:rPr lang="en-US" sz="1800" dirty="0">
                <a:latin typeface="Times New Roman" panose="02020603050405020304" pitchFamily="18" charset="0"/>
                <a:cs typeface="Times New Roman" panose="02020603050405020304" pitchFamily="18" charset="0"/>
              </a:rPr>
              <a:t>double-processing?</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574721" y="1872975"/>
            <a:ext cx="7102406" cy="3270525"/>
          </a:xfrm>
        </p:spPr>
        <p:txBody>
          <a:bodyPr anchor="ctr"/>
          <a:lstStyle/>
          <a:p>
            <a:pPr marL="152400" indent="0">
              <a:spcAft>
                <a:spcPts val="400"/>
              </a:spcAft>
              <a:buSzPct val="100000"/>
              <a:buNone/>
              <a:defRPr sz="1530">
                <a:solidFill>
                  <a:srgbClr val="1B1B1B"/>
                </a:solidFill>
                <a:latin typeface="Didact Gothic"/>
              </a:defRPr>
            </a:pPr>
            <a:r>
              <a:rPr lang="en-US" sz="1800" dirty="0" err="1">
                <a:latin typeface="Times New Roman" panose="02020603050405020304" pitchFamily="18" charset="0"/>
                <a:cs typeface="Times New Roman" panose="02020603050405020304" pitchFamily="18" charset="0"/>
              </a:rPr>
              <a:t>Webhook</a:t>
            </a:r>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ът валидира, че събитията наистина идват от </a:t>
            </a:r>
            <a:r>
              <a:rPr lang="en-US" sz="1800" dirty="0">
                <a:latin typeface="Times New Roman" panose="02020603050405020304" pitchFamily="18" charset="0"/>
                <a:cs typeface="Times New Roman" panose="02020603050405020304" pitchFamily="18" charset="0"/>
              </a:rPr>
              <a:t>Stripe, </a:t>
            </a:r>
            <a:r>
              <a:rPr lang="ru-RU" sz="1800" dirty="0">
                <a:latin typeface="Times New Roman" panose="02020603050405020304" pitchFamily="18" charset="0"/>
                <a:cs typeface="Times New Roman" panose="02020603050405020304" pitchFamily="18" charset="0"/>
              </a:rPr>
              <a:t>и поставя основа за асинхронна обработка на плащания. Основният завършен </a:t>
            </a:r>
            <a:r>
              <a:rPr lang="en-US" sz="1800" dirty="0">
                <a:latin typeface="Times New Roman" panose="02020603050405020304" pitchFamily="18" charset="0"/>
                <a:cs typeface="Times New Roman" panose="02020603050405020304" pitchFamily="18" charset="0"/>
              </a:rPr>
              <a:t>flow </a:t>
            </a:r>
            <a:r>
              <a:rPr lang="ru-RU" sz="1800" dirty="0">
                <a:latin typeface="Times New Roman" panose="02020603050405020304" pitchFamily="18" charset="0"/>
                <a:cs typeface="Times New Roman" panose="02020603050405020304" pitchFamily="18" charset="0"/>
              </a:rPr>
              <a:t>в момента е синхронното потвърждение, а </a:t>
            </a:r>
            <a:r>
              <a:rPr lang="en-US" sz="1800" dirty="0" err="1">
                <a:latin typeface="Times New Roman" panose="02020603050405020304" pitchFamily="18" charset="0"/>
                <a:cs typeface="Times New Roman" panose="02020603050405020304" pitchFamily="18" charset="0"/>
              </a:rPr>
              <a:t>webhook</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логиката може да се разшири за по-надеждна обработка на </a:t>
            </a:r>
            <a:r>
              <a:rPr lang="en-US" sz="1800" dirty="0">
                <a:latin typeface="Times New Roman" panose="02020603050405020304" pitchFamily="18" charset="0"/>
                <a:cs typeface="Times New Roman" panose="02020603050405020304" pitchFamily="18" charset="0"/>
              </a:rPr>
              <a:t>delayed events, failed payments </a:t>
            </a:r>
            <a:r>
              <a:rPr lang="ru-RU" sz="1800" dirty="0">
                <a:latin typeface="Times New Roman" panose="02020603050405020304" pitchFamily="18" charset="0"/>
                <a:cs typeface="Times New Roman" panose="02020603050405020304" pitchFamily="18" charset="0"/>
              </a:rPr>
              <a:t>и </a:t>
            </a:r>
            <a:r>
              <a:rPr lang="en-US" sz="1800" dirty="0">
                <a:latin typeface="Times New Roman" panose="02020603050405020304" pitchFamily="18" charset="0"/>
                <a:cs typeface="Times New Roman" panose="02020603050405020304" pitchFamily="18" charset="0"/>
              </a:rPr>
              <a:t>refunds.</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1816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smtClean="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AdminRoute</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компонентът във фронтенда чете </a:t>
            </a:r>
            <a:r>
              <a:rPr lang="en-US" sz="1800" dirty="0" err="1">
                <a:latin typeface="Times New Roman" panose="02020603050405020304" pitchFamily="18" charset="0"/>
                <a:cs typeface="Times New Roman" panose="02020603050405020304" pitchFamily="18" charset="0"/>
              </a:rPr>
              <a:t>localStorage.getItem</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userRole</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Защо е избран този подход вместо извличане на ролята от </a:t>
            </a:r>
            <a:r>
              <a:rPr lang="en-US" sz="1800" dirty="0">
                <a:latin typeface="Times New Roman" panose="02020603050405020304" pitchFamily="18" charset="0"/>
                <a:cs typeface="Times New Roman" panose="02020603050405020304" pitchFamily="18" charset="0"/>
              </a:rPr>
              <a:t>JWT </a:t>
            </a:r>
            <a:r>
              <a:rPr lang="ru-RU" sz="1800" dirty="0">
                <a:latin typeface="Times New Roman" panose="02020603050405020304" pitchFamily="18" charset="0"/>
                <a:cs typeface="Times New Roman" panose="02020603050405020304" pitchFamily="18" charset="0"/>
              </a:rPr>
              <a:t>токена или от защитен </a:t>
            </a:r>
            <a:r>
              <a:rPr lang="en-US" sz="1800" dirty="0">
                <a:latin typeface="Times New Roman" panose="02020603050405020304" pitchFamily="18" charset="0"/>
                <a:cs typeface="Times New Roman" panose="02020603050405020304" pitchFamily="18" charset="0"/>
              </a:rPr>
              <a:t>endpoint? </a:t>
            </a:r>
            <a:r>
              <a:rPr lang="ru-RU" sz="1800" dirty="0">
                <a:latin typeface="Times New Roman" panose="02020603050405020304" pitchFamily="18" charset="0"/>
                <a:cs typeface="Times New Roman" panose="02020603050405020304" pitchFamily="18" charset="0"/>
              </a:rPr>
              <a:t>Какви биха били ползите от смяна на този механизъм и към какво биха се променили евентуалните видове атаки?</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ru-RU" sz="1800" dirty="0">
                <a:latin typeface="Times New Roman" panose="02020603050405020304" pitchFamily="18" charset="0"/>
                <a:cs typeface="Times New Roman" panose="02020603050405020304" pitchFamily="18" charset="0"/>
              </a:rPr>
              <a:t>Първоначалният подход с localStorage беше заменен със заявка към защитения /me endpoint. Така ролята се извлича от валиден JWT токен на сървъра, а не от стойност, която потребителят може да промени в браузъра.</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21763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smtClean="0">
                <a:latin typeface="Times New Roman" panose="02020603050405020304" pitchFamily="18" charset="0"/>
                <a:cs typeface="Times New Roman" panose="02020603050405020304" pitchFamily="18" charset="0"/>
              </a:rPr>
              <a:t>4</a:t>
            </a:r>
            <a:r>
              <a:rPr lang="en-US" sz="1800" dirty="0" smtClean="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QR кодът съдържа HMAC подпис, който гарантира, че идентификаторът на билета не е променян. Какво обаче пречи на потребител да сподели валидния си QR код с друг човек, за да го използва вместо/наред с него? Има ли механизъм за единствено сканиране (single-use), времеви прозорец на валидност или сверяване с физическо лице?</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ru-RU" sz="1800" dirty="0">
                <a:latin typeface="Times New Roman" panose="02020603050405020304" pitchFamily="18" charset="0"/>
                <a:cs typeface="Times New Roman" panose="02020603050405020304" pitchFamily="18" charset="0"/>
              </a:rPr>
              <a:t>Д</a:t>
            </a:r>
            <a:r>
              <a:rPr lang="ru-RU" sz="1800" dirty="0" smtClean="0">
                <a:latin typeface="Times New Roman" panose="02020603050405020304" pitchFamily="18" charset="0"/>
                <a:cs typeface="Times New Roman" panose="02020603050405020304" pitchFamily="18" charset="0"/>
              </a:rPr>
              <a:t>обавен е single-use </a:t>
            </a:r>
            <a:r>
              <a:rPr lang="ru-RU" sz="1800" dirty="0">
                <a:latin typeface="Times New Roman" panose="02020603050405020304" pitchFamily="18" charset="0"/>
                <a:cs typeface="Times New Roman" panose="02020603050405020304" pitchFamily="18" charset="0"/>
              </a:rPr>
              <a:t>механизъм: при първо валидно сканиране билетът се маркира като използван, а следващ опит се отхвърля.</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83596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a:latin typeface="Times New Roman" panose="02020603050405020304" pitchFamily="18" charset="0"/>
                <a:cs typeface="Times New Roman" panose="02020603050405020304" pitchFamily="18" charset="0"/>
              </a:rPr>
              <a:t>5</a:t>
            </a:r>
            <a:r>
              <a:rPr lang="en-US" sz="1800" dirty="0" smtClean="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server/database.sql и spring.jpa.hibernate.ddl-auto=update описват схемата на базата данни на две места, които не са непременно синхронизирани. Кой от двата източника е „истината“ за production? Какъв процес е удобен за внасяне на промяна по схемата – например добавяне на нова колона или нова таблица?</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ru-RU" sz="1800" dirty="0">
                <a:latin typeface="Times New Roman" panose="02020603050405020304" pitchFamily="18" charset="0"/>
                <a:cs typeface="Times New Roman" panose="02020603050405020304" pitchFamily="18" charset="0"/>
              </a:rPr>
              <a:t>Схемата на базата вече се управлява чрез Liquibase, който служи като един източник на истина. Всяка промяна се описва като versioned changeset, което прави миграциите по-надеждни и подходящи за production среда.</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37930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a:latin typeface="Times New Roman" panose="02020603050405020304" pitchFamily="18" charset="0"/>
                <a:cs typeface="Times New Roman" panose="02020603050405020304" pitchFamily="18" charset="0"/>
              </a:rPr>
              <a:t>6</a:t>
            </a:r>
            <a:r>
              <a:rPr lang="en-US" sz="1800" dirty="0" smtClean="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Имейлите се изпращат асинхронно, за да не блокират потребителското изживяване. Какво се случва, ако </a:t>
            </a:r>
            <a:r>
              <a:rPr lang="en-US" sz="1800" dirty="0">
                <a:latin typeface="Times New Roman" panose="02020603050405020304" pitchFamily="18" charset="0"/>
                <a:cs typeface="Times New Roman" panose="02020603050405020304" pitchFamily="18" charset="0"/>
              </a:rPr>
              <a:t>SMTP </a:t>
            </a:r>
            <a:r>
              <a:rPr lang="ru-RU" sz="1800" dirty="0">
                <a:latin typeface="Times New Roman" panose="02020603050405020304" pitchFamily="18" charset="0"/>
                <a:cs typeface="Times New Roman" panose="02020603050405020304" pitchFamily="18" charset="0"/>
              </a:rPr>
              <a:t>сървърът е недостъпен или връща грешка – загубено ли е съобщението за билета? Има ли </a:t>
            </a:r>
            <a:r>
              <a:rPr lang="en-US" sz="1800" dirty="0">
                <a:latin typeface="Times New Roman" panose="02020603050405020304" pitchFamily="18" charset="0"/>
                <a:cs typeface="Times New Roman" panose="02020603050405020304" pitchFamily="18" charset="0"/>
              </a:rPr>
              <a:t>retry </a:t>
            </a:r>
            <a:r>
              <a:rPr lang="ru-RU" sz="1800" dirty="0">
                <a:latin typeface="Times New Roman" panose="02020603050405020304" pitchFamily="18" charset="0"/>
                <a:cs typeface="Times New Roman" panose="02020603050405020304" pitchFamily="18" charset="0"/>
              </a:rPr>
              <a:t>механизъм, </a:t>
            </a:r>
            <a:r>
              <a:rPr lang="en-US" sz="1800" dirty="0">
                <a:latin typeface="Times New Roman" panose="02020603050405020304" pitchFamily="18" charset="0"/>
                <a:cs typeface="Times New Roman" panose="02020603050405020304" pitchFamily="18" charset="0"/>
              </a:rPr>
              <a:t>dead-letter queue </a:t>
            </a:r>
            <a:r>
              <a:rPr lang="ru-RU" sz="1800" dirty="0">
                <a:latin typeface="Times New Roman" panose="02020603050405020304" pitchFamily="18" charset="0"/>
                <a:cs typeface="Times New Roman" panose="02020603050405020304" pitchFamily="18" charset="0"/>
              </a:rPr>
              <a:t>или поне маркер в базата данни (</a:t>
            </a:r>
            <a:r>
              <a:rPr lang="en-US" sz="1800" dirty="0" err="1">
                <a:latin typeface="Times New Roman" panose="02020603050405020304" pitchFamily="18" charset="0"/>
                <a:cs typeface="Times New Roman" panose="02020603050405020304" pitchFamily="18" charset="0"/>
              </a:rPr>
              <a:t>email_sent</a:t>
            </a:r>
            <a:r>
              <a:rPr lang="en-US" sz="1800" dirty="0">
                <a:latin typeface="Times New Roman" panose="02020603050405020304" pitchFamily="18" charset="0"/>
                <a:cs typeface="Times New Roman" panose="02020603050405020304" pitchFamily="18" charset="0"/>
              </a:rPr>
              <a:t>=false), </a:t>
            </a:r>
            <a:r>
              <a:rPr lang="ru-RU" sz="1800" dirty="0">
                <a:latin typeface="Times New Roman" panose="02020603050405020304" pitchFamily="18" charset="0"/>
                <a:cs typeface="Times New Roman" panose="02020603050405020304" pitchFamily="18" charset="0"/>
              </a:rPr>
              <a:t>който да позволява последващо повторно изпращане?</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ru-RU" sz="1800" dirty="0">
                <a:latin typeface="Times New Roman" panose="02020603050405020304" pitchFamily="18" charset="0"/>
                <a:cs typeface="Times New Roman" panose="02020603050405020304" pitchFamily="18" charset="0"/>
              </a:rPr>
              <a:t>Имейлите се изпращат асинхронно, за да не блокират потребителското изживяване след покупка. При SMTP грешка системата прави няколко retry опита и записва в базата дали имейлът е изпратен, броя опити и последната грешка.</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0618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499"/>
            <a:ext cx="7704000" cy="1682407"/>
          </a:xfrm>
        </p:spPr>
        <p:txBody>
          <a:bodyPr anchor="ctr"/>
          <a:lstStyle/>
          <a:p>
            <a:r>
              <a:rPr lang="bg-BG" sz="1800" dirty="0">
                <a:latin typeface="Times New Roman" panose="02020603050405020304" pitchFamily="18" charset="0"/>
                <a:cs typeface="Times New Roman" panose="02020603050405020304" pitchFamily="18" charset="0"/>
              </a:rPr>
              <a:t>7</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CI </a:t>
            </a:r>
            <a:r>
              <a:rPr lang="ru-RU" sz="1800" dirty="0">
                <a:latin typeface="Times New Roman" panose="02020603050405020304" pitchFamily="18" charset="0"/>
                <a:cs typeface="Times New Roman" panose="02020603050405020304" pitchFamily="18" charset="0"/>
              </a:rPr>
              <a:t>веригата изпълнява `</a:t>
            </a:r>
            <a:r>
              <a:rPr lang="en-US" sz="1800" dirty="0" err="1">
                <a:latin typeface="Times New Roman" panose="02020603050405020304" pitchFamily="18" charset="0"/>
                <a:cs typeface="Times New Roman" panose="02020603050405020304" pitchFamily="18" charset="0"/>
              </a:rPr>
              <a:t>mvn</a:t>
            </a:r>
            <a:r>
              <a:rPr lang="en-US" sz="1800" dirty="0">
                <a:latin typeface="Times New Roman" panose="02020603050405020304" pitchFamily="18" charset="0"/>
                <a:cs typeface="Times New Roman" panose="02020603050405020304" pitchFamily="18" charset="0"/>
              </a:rPr>
              <a:t> test` </a:t>
            </a:r>
            <a:r>
              <a:rPr lang="ru-RU" sz="1800" dirty="0">
                <a:latin typeface="Times New Roman" panose="02020603050405020304" pitchFamily="18" charset="0"/>
                <a:cs typeface="Times New Roman" panose="02020603050405020304" pitchFamily="18" charset="0"/>
              </a:rPr>
              <a:t>и `</a:t>
            </a:r>
            <a:r>
              <a:rPr lang="en-US" sz="1800" dirty="0" err="1">
                <a:latin typeface="Times New Roman" panose="02020603050405020304" pitchFamily="18" charset="0"/>
                <a:cs typeface="Times New Roman" panose="02020603050405020304" pitchFamily="18" charset="0"/>
              </a:rPr>
              <a:t>mvn</a:t>
            </a:r>
            <a:r>
              <a:rPr lang="en-US" sz="1800" dirty="0">
                <a:latin typeface="Times New Roman" panose="02020603050405020304" pitchFamily="18" charset="0"/>
                <a:cs typeface="Times New Roman" panose="02020603050405020304" pitchFamily="18" charset="0"/>
              </a:rPr>
              <a:t> verify` </a:t>
            </a:r>
            <a:r>
              <a:rPr lang="ru-RU" sz="1800" dirty="0">
                <a:latin typeface="Times New Roman" panose="02020603050405020304" pitchFamily="18" charset="0"/>
                <a:cs typeface="Times New Roman" panose="02020603050405020304" pitchFamily="18" charset="0"/>
              </a:rPr>
              <a:t>при </a:t>
            </a:r>
            <a:r>
              <a:rPr lang="en-US" sz="1800" dirty="0">
                <a:latin typeface="Times New Roman" panose="02020603050405020304" pitchFamily="18" charset="0"/>
                <a:cs typeface="Times New Roman" panose="02020603050405020304" pitchFamily="18" charset="0"/>
              </a:rPr>
              <a:t>PR. </a:t>
            </a:r>
            <a:r>
              <a:rPr lang="ru-RU" sz="1800" dirty="0">
                <a:latin typeface="Times New Roman" panose="02020603050405020304" pitchFamily="18" charset="0"/>
                <a:cs typeface="Times New Roman" panose="02020603050405020304" pitchFamily="18" charset="0"/>
              </a:rPr>
              <a:t>Какво покрива на този етап и какви типове тестове биха били полезни в допълнение – интеграционни тестове с </a:t>
            </a:r>
            <a:r>
              <a:rPr lang="en-US" sz="1800" dirty="0" err="1">
                <a:latin typeface="Times New Roman" panose="02020603050405020304" pitchFamily="18" charset="0"/>
                <a:cs typeface="Times New Roman" panose="02020603050405020304" pitchFamily="18" charset="0"/>
              </a:rPr>
              <a:t>Testcontainers</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за </a:t>
            </a:r>
            <a:r>
              <a:rPr lang="en-US" sz="1800" dirty="0">
                <a:latin typeface="Times New Roman" panose="02020603050405020304" pitchFamily="18" charset="0"/>
                <a:cs typeface="Times New Roman" panose="02020603050405020304" pitchFamily="18" charset="0"/>
              </a:rPr>
              <a:t>PostgreSQL </a:t>
            </a:r>
            <a:r>
              <a:rPr lang="ru-RU" sz="1800" dirty="0">
                <a:latin typeface="Times New Roman" panose="02020603050405020304" pitchFamily="18" charset="0"/>
                <a:cs typeface="Times New Roman" panose="02020603050405020304" pitchFamily="18" charset="0"/>
              </a:rPr>
              <a:t>и </a:t>
            </a:r>
            <a:r>
              <a:rPr lang="en-US" sz="1800" dirty="0" err="1">
                <a:latin typeface="Times New Roman" panose="02020603050405020304" pitchFamily="18" charset="0"/>
                <a:cs typeface="Times New Roman" panose="02020603050405020304" pitchFamily="18" charset="0"/>
              </a:rPr>
              <a:t>Redis</a:t>
            </a:r>
            <a:r>
              <a:rPr lang="en-US" sz="1800" dirty="0">
                <a:latin typeface="Times New Roman" panose="02020603050405020304" pitchFamily="18" charset="0"/>
                <a:cs typeface="Times New Roman" panose="02020603050405020304" pitchFamily="18" charset="0"/>
              </a:rPr>
              <a:t>), end-to-end </a:t>
            </a:r>
            <a:r>
              <a:rPr lang="ru-RU" sz="1800" dirty="0">
                <a:latin typeface="Times New Roman" panose="02020603050405020304" pitchFamily="18" charset="0"/>
                <a:cs typeface="Times New Roman" panose="02020603050405020304" pitchFamily="18" charset="0"/>
              </a:rPr>
              <a:t>тестове за фронтенда (</a:t>
            </a:r>
            <a:r>
              <a:rPr lang="en-US" sz="1800" dirty="0">
                <a:latin typeface="Times New Roman" panose="02020603050405020304" pitchFamily="18" charset="0"/>
                <a:cs typeface="Times New Roman" panose="02020603050405020304" pitchFamily="18" charset="0"/>
              </a:rPr>
              <a:t>Cypress/Playwright), </a:t>
            </a:r>
            <a:r>
              <a:rPr lang="ru-RU" sz="1800" dirty="0">
                <a:latin typeface="Times New Roman" panose="02020603050405020304" pitchFamily="18" charset="0"/>
                <a:cs typeface="Times New Roman" panose="02020603050405020304" pitchFamily="18" charset="0"/>
              </a:rPr>
              <a:t>статичен анализ на кода (</a:t>
            </a:r>
            <a:r>
              <a:rPr lang="en-US" sz="1800" dirty="0" err="1">
                <a:latin typeface="Times New Roman" panose="02020603050405020304" pitchFamily="18" charset="0"/>
                <a:cs typeface="Times New Roman" panose="02020603050405020304" pitchFamily="18" charset="0"/>
              </a:rPr>
              <a:t>SonarQube</a:t>
            </a:r>
            <a:r>
              <a:rPr lang="en-US" sz="1800" dirty="0">
                <a:latin typeface="Times New Roman" panose="02020603050405020304" pitchFamily="18" charset="0"/>
                <a:cs typeface="Times New Roman" panose="02020603050405020304" pitchFamily="18" charset="0"/>
              </a:rPr>
              <a:t>)?</a:t>
            </a:r>
            <a:endParaRPr lang="bg-BG" sz="1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0359" y="1215749"/>
            <a:ext cx="7102406" cy="3270525"/>
          </a:xfrm>
        </p:spPr>
        <p:txBody>
          <a:bodyPr anchor="ctr"/>
          <a:lstStyle/>
          <a:p>
            <a:pPr marL="152400" indent="0">
              <a:spcAft>
                <a:spcPts val="400"/>
              </a:spcAft>
              <a:buSzPct val="100000"/>
              <a:buNone/>
              <a:defRPr sz="1530">
                <a:solidFill>
                  <a:srgbClr val="1B1B1B"/>
                </a:solidFill>
                <a:latin typeface="Didact Gothic"/>
              </a:defRPr>
            </a:pPr>
            <a:r>
              <a:rPr lang="en-US" sz="1800" dirty="0">
                <a:latin typeface="Times New Roman" panose="02020603050405020304" pitchFamily="18" charset="0"/>
                <a:cs typeface="Times New Roman" panose="02020603050405020304" pitchFamily="18" charset="0"/>
              </a:rPr>
              <a:t>CI workflow-</a:t>
            </a:r>
            <a:r>
              <a:rPr lang="ru-RU" sz="1800" dirty="0">
                <a:latin typeface="Times New Roman" panose="02020603050405020304" pitchFamily="18" charset="0"/>
                <a:cs typeface="Times New Roman" panose="02020603050405020304" pitchFamily="18" charset="0"/>
              </a:rPr>
              <a:t>ът се изпълнява при </a:t>
            </a:r>
            <a:r>
              <a:rPr lang="en-US" sz="1800" dirty="0">
                <a:latin typeface="Times New Roman" panose="02020603050405020304" pitchFamily="18" charset="0"/>
                <a:cs typeface="Times New Roman" panose="02020603050405020304" pitchFamily="18" charset="0"/>
              </a:rPr>
              <a:t>pull request </a:t>
            </a:r>
            <a:r>
              <a:rPr lang="ru-RU" sz="1800" dirty="0">
                <a:latin typeface="Times New Roman" panose="02020603050405020304" pitchFamily="18" charset="0"/>
                <a:cs typeface="Times New Roman" panose="02020603050405020304" pitchFamily="18" charset="0"/>
              </a:rPr>
              <a:t>и при </a:t>
            </a:r>
            <a:r>
              <a:rPr lang="en-US" sz="1800" dirty="0">
                <a:latin typeface="Times New Roman" panose="02020603050405020304" pitchFamily="18" charset="0"/>
                <a:cs typeface="Times New Roman" panose="02020603050405020304" pitchFamily="18" charset="0"/>
              </a:rPr>
              <a:t>push </a:t>
            </a:r>
            <a:r>
              <a:rPr lang="ru-RU" sz="1800" dirty="0">
                <a:latin typeface="Times New Roman" panose="02020603050405020304" pitchFamily="18" charset="0"/>
                <a:cs typeface="Times New Roman" panose="02020603050405020304" pitchFamily="18" charset="0"/>
              </a:rPr>
              <a:t>към </a:t>
            </a:r>
            <a:r>
              <a:rPr lang="en-US" sz="1800" dirty="0">
                <a:latin typeface="Times New Roman" panose="02020603050405020304" pitchFamily="18" charset="0"/>
                <a:cs typeface="Times New Roman" panose="02020603050405020304" pitchFamily="18" charset="0"/>
              </a:rPr>
              <a:t>main, </a:t>
            </a:r>
            <a:r>
              <a:rPr lang="ru-RU" sz="1800" dirty="0">
                <a:latin typeface="Times New Roman" panose="02020603050405020304" pitchFamily="18" charset="0"/>
                <a:cs typeface="Times New Roman" panose="02020603050405020304" pitchFamily="18" charset="0"/>
              </a:rPr>
              <a:t>като стартира </a:t>
            </a:r>
            <a:r>
              <a:rPr lang="en-US" sz="1800" dirty="0">
                <a:latin typeface="Times New Roman" panose="02020603050405020304" pitchFamily="18" charset="0"/>
                <a:cs typeface="Times New Roman" panose="02020603050405020304" pitchFamily="18" charset="0"/>
              </a:rPr>
              <a:t>build, unit </a:t>
            </a:r>
            <a:r>
              <a:rPr lang="ru-RU" sz="1800" dirty="0">
                <a:latin typeface="Times New Roman" panose="02020603050405020304" pitchFamily="18" charset="0"/>
                <a:cs typeface="Times New Roman" panose="02020603050405020304" pitchFamily="18" charset="0"/>
              </a:rPr>
              <a:t>тестове и </a:t>
            </a:r>
            <a:r>
              <a:rPr lang="en-US" sz="1800" dirty="0">
                <a:latin typeface="Times New Roman" panose="02020603050405020304" pitchFamily="18" charset="0"/>
                <a:cs typeface="Times New Roman" panose="02020603050405020304" pitchFamily="18" charset="0"/>
              </a:rPr>
              <a:t>verify </a:t>
            </a:r>
            <a:r>
              <a:rPr lang="ru-RU" sz="1800" dirty="0">
                <a:latin typeface="Times New Roman" panose="02020603050405020304" pitchFamily="18" charset="0"/>
                <a:cs typeface="Times New Roman" panose="02020603050405020304" pitchFamily="18" charset="0"/>
              </a:rPr>
              <a:t>стъпка. В бъдеще покритието може да се разшири с </a:t>
            </a:r>
            <a:r>
              <a:rPr lang="en-US" sz="1800" dirty="0" err="1">
                <a:latin typeface="Times New Roman" panose="02020603050405020304" pitchFamily="18" charset="0"/>
                <a:cs typeface="Times New Roman" panose="02020603050405020304" pitchFamily="18" charset="0"/>
              </a:rPr>
              <a:t>Testcontainers</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за </a:t>
            </a:r>
            <a:r>
              <a:rPr lang="en-US" sz="1800" dirty="0">
                <a:latin typeface="Times New Roman" panose="02020603050405020304" pitchFamily="18" charset="0"/>
                <a:cs typeface="Times New Roman" panose="02020603050405020304" pitchFamily="18" charset="0"/>
              </a:rPr>
              <a:t>PostgreSQL/</a:t>
            </a:r>
            <a:r>
              <a:rPr lang="en-US" sz="1800" dirty="0" err="1">
                <a:latin typeface="Times New Roman" panose="02020603050405020304" pitchFamily="18" charset="0"/>
                <a:cs typeface="Times New Roman" panose="02020603050405020304" pitchFamily="18" charset="0"/>
              </a:rPr>
              <a:t>Redis</a:t>
            </a:r>
            <a:r>
              <a:rPr lang="en-US" sz="1800" dirty="0">
                <a:latin typeface="Times New Roman" panose="02020603050405020304" pitchFamily="18" charset="0"/>
                <a:cs typeface="Times New Roman" panose="02020603050405020304" pitchFamily="18" charset="0"/>
              </a:rPr>
              <a:t>, E2E </a:t>
            </a:r>
            <a:r>
              <a:rPr lang="ru-RU" sz="1800" dirty="0">
                <a:latin typeface="Times New Roman" panose="02020603050405020304" pitchFamily="18" charset="0"/>
                <a:cs typeface="Times New Roman" panose="02020603050405020304" pitchFamily="18" charset="0"/>
              </a:rPr>
              <a:t>тестове с </a:t>
            </a:r>
            <a:r>
              <a:rPr lang="en-US" sz="1800" dirty="0">
                <a:latin typeface="Times New Roman" panose="02020603050405020304" pitchFamily="18" charset="0"/>
                <a:cs typeface="Times New Roman" panose="02020603050405020304" pitchFamily="18" charset="0"/>
              </a:rPr>
              <a:t>Playwright </a:t>
            </a:r>
            <a:r>
              <a:rPr lang="ru-RU" sz="1800" dirty="0">
                <a:latin typeface="Times New Roman" panose="02020603050405020304" pitchFamily="18" charset="0"/>
                <a:cs typeface="Times New Roman" panose="02020603050405020304" pitchFamily="18" charset="0"/>
              </a:rPr>
              <a:t>или </a:t>
            </a:r>
            <a:r>
              <a:rPr lang="en-US" sz="1800" dirty="0">
                <a:latin typeface="Times New Roman" panose="02020603050405020304" pitchFamily="18" charset="0"/>
                <a:cs typeface="Times New Roman" panose="02020603050405020304" pitchFamily="18" charset="0"/>
              </a:rPr>
              <a:t>Cypress </a:t>
            </a:r>
            <a:r>
              <a:rPr lang="ru-RU" sz="1800" dirty="0">
                <a:latin typeface="Times New Roman" panose="02020603050405020304" pitchFamily="18" charset="0"/>
                <a:cs typeface="Times New Roman" panose="02020603050405020304" pitchFamily="18" charset="0"/>
              </a:rPr>
              <a:t>и статичен анализ със </a:t>
            </a:r>
            <a:r>
              <a:rPr lang="en-US" sz="1800" dirty="0" err="1">
                <a:latin typeface="Times New Roman" panose="02020603050405020304" pitchFamily="18" charset="0"/>
                <a:cs typeface="Times New Roman" panose="02020603050405020304" pitchFamily="18" charset="0"/>
              </a:rPr>
              <a:t>SonarQube</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56817"/>
      </p:ext>
    </p:extLst>
  </p:cSld>
  <p:clrMapOvr>
    <a:masterClrMapping/>
  </p:clrMapOvr>
  <p:timing>
    <p:tnLst>
      <p:par>
        <p:cTn id="1" dur="indefinite" restart="never" nodeType="tmRoot"/>
      </p:par>
    </p:tnLst>
  </p:timing>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1299</TotalTime>
  <Words>912</Words>
  <Application>Microsoft Office PowerPoint</Application>
  <PresentationFormat>On-screen Show (16:9)</PresentationFormat>
  <Paragraphs>64</Paragraphs>
  <Slides>19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Times New Roman</vt:lpstr>
      <vt:lpstr>Arial</vt:lpstr>
      <vt:lpstr>Libre Franklin</vt:lpstr>
      <vt:lpstr>Didact Gothic</vt:lpstr>
      <vt:lpstr>Nunito Light</vt:lpstr>
      <vt:lpstr>Wingdings</vt:lpstr>
      <vt:lpstr>Poppins</vt:lpstr>
      <vt:lpstr>Raleway</vt:lpstr>
      <vt:lpstr>Cycle Diagrams Theme for a Business Plan by Slidesgo</vt:lpstr>
      <vt:lpstr>Система за продажба на билети за събития</vt:lpstr>
      <vt:lpstr>Проблемът</vt:lpstr>
      <vt:lpstr>Функционални изисквания</vt:lpstr>
      <vt:lpstr>Използвани технологии</vt:lpstr>
      <vt:lpstr>Потребителски интерфейс</vt:lpstr>
      <vt:lpstr>Архитектура</vt:lpstr>
      <vt:lpstr>Автентикация и роли</vt:lpstr>
      <vt:lpstr>Резервации и плащане</vt:lpstr>
      <vt:lpstr>Процес на плащане</vt:lpstr>
      <vt:lpstr>Билети и QR кодове</vt:lpstr>
      <vt:lpstr>ДЕМО</vt:lpstr>
      <vt:lpstr>Благодаря Ви за вниманието!</vt:lpstr>
      <vt:lpstr>1. Песимистичното заключване на места е реализирано на ниво база данни през JPA. Какво ще се случи в сценария, в който потребител започне checkout, заключи определени места, но не завърши плащането (затваря браузъра, мрежата прекъсва, Stripe бави отговор)? Кога и как тези места стават отново налични за други купувачи?</vt:lpstr>
      <vt:lpstr>2. В кода са реализирани едновременно StripeService (синхронно потвърждение чрез PaymentIntent) и StripeWebhookController (асинхронно получаване на събития от Stripe). Какви конкретни сценарии обработва webhook-ът – например успешно плащане, върнато плащане (refund), неуспешно плащане след известно време? Какво се случва, ако и двата пътя (синхронен и webhook) се изпълнят за едно и също плащане – има ли защита от double-processing?</vt:lpstr>
      <vt:lpstr>3. AdminRoute компонентът във фронтенда чете localStorage.getItem('userRole'). Защо е избран този подход вместо извличане на ролята от JWT токена или от защитен endpoint? Какви биха били ползите от смяна на този механизъм и към какво биха се променили евентуалните видове атаки?</vt:lpstr>
      <vt:lpstr>4. QR кодът съдържа HMAC подпис, който гарантира, че идентификаторът на билета не е променян. Какво обаче пречи на потребител да сподели валидния си QR код с друг човек, за да го използва вместо/наред с него? Има ли механизъм за единствено сканиране (single-use), времеви прозорец на валидност или сверяване с физическо лице?</vt:lpstr>
      <vt:lpstr>5. server/database.sql и spring.jpa.hibernate.ddl-auto=update описват схемата на базата данни на две места, които не са непременно синхронизирани. Кой от двата източника е „истината“ за production? Какъв процес е удобен за внасяне на промяна по схемата – например добавяне на нова колона или нова таблица?</vt:lpstr>
      <vt:lpstr>6. Имейлите се изпращат асинхронно, за да не блокират потребителското изживяване. Какво се случва, ако SMTP сървърът е недостъпен или връща грешка – загубено ли е съобщението за билета? Има ли retry механизъм, dead-letter queue или поне маркер в базата данни (email_sent=false), който да позволява последващо повторно изпращане?</vt:lpstr>
      <vt:lpstr>7. CI веригата изпълнява `mvn test` и `mvn verify` при PR. Какво покрива на този етап и какви типове тестове биха били полезни в допълнение – интеграционни тестове с Testcontainers (за PostgreSQL и Redis), end-to-end тестове за фронтенда (Cypress/Playwright), статичен анализ на кода (SonarQube)?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Система за продажба на билети за събития</dc:title>
  <cp:lastModifiedBy>Венцеслав Драганов</cp:lastModifiedBy>
  <cp:revision>66</cp:revision>
  <dcterms:modified xsi:type="dcterms:W3CDTF">2026-06-01T21:56:41Z</dcterms:modified>
</cp:coreProperties>
</file>